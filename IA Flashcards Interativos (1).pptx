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y="6858000" cx="12192000"/>
  <p:notesSz cx="6858000" cy="9144000"/>
  <p:embeddedFontLst>
    <p:embeddedFont>
      <p:font typeface="Inter"/>
      <p:regular r:id="rId19"/>
      <p:bold r:id="rId20"/>
      <p:italic r:id="rId21"/>
      <p:boldItalic r:id="rId22"/>
    </p:embeddedFont>
    <p:embeddedFont>
      <p:font typeface="Poppins"/>
      <p:regular r:id="rId23"/>
      <p:bold r:id="rId24"/>
      <p:italic r:id="rId25"/>
      <p:boldItalic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06160D3D-0E0E-4182-91C9-945F2FA55FE6}">
  <a:tblStyle styleId="{06160D3D-0E0E-4182-91C9-945F2FA55FE6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Inter-bold.fntdata"/><Relationship Id="rId22" Type="http://schemas.openxmlformats.org/officeDocument/2006/relationships/font" Target="fonts/Inter-boldItalic.fntdata"/><Relationship Id="rId21" Type="http://schemas.openxmlformats.org/officeDocument/2006/relationships/font" Target="fonts/Inter-italic.fntdata"/><Relationship Id="rId24" Type="http://schemas.openxmlformats.org/officeDocument/2006/relationships/font" Target="fonts/Poppins-bold.fntdata"/><Relationship Id="rId23" Type="http://schemas.openxmlformats.org/officeDocument/2006/relationships/font" Target="fonts/Poppins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Poppins-boldItalic.fntdata"/><Relationship Id="rId25" Type="http://schemas.openxmlformats.org/officeDocument/2006/relationships/font" Target="fonts/Poppins-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font" Target="fonts/Inter-regular.fntdata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5" Type="http://schemas.openxmlformats.org/officeDocument/2006/relationships/image" Target="../media/image3.png"/><Relationship Id="rId6" Type="http://schemas.openxmlformats.org/officeDocument/2006/relationships/image" Target="../media/image6.png"/><Relationship Id="rId7" Type="http://schemas.openxmlformats.org/officeDocument/2006/relationships/image" Target="../media/image5.png"/><Relationship Id="rId8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8.png"/><Relationship Id="rId5" Type="http://schemas.openxmlformats.org/officeDocument/2006/relationships/image" Target="../media/image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12.png"/><Relationship Id="rId9" Type="http://schemas.openxmlformats.org/officeDocument/2006/relationships/image" Target="../media/image15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Relationship Id="rId7" Type="http://schemas.openxmlformats.org/officeDocument/2006/relationships/image" Target="../media/image13.png"/><Relationship Id="rId8" Type="http://schemas.openxmlformats.org/officeDocument/2006/relationships/image" Target="../media/image1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16.png"/><Relationship Id="rId5" Type="http://schemas.openxmlformats.org/officeDocument/2006/relationships/image" Target="../media/image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19.png"/><Relationship Id="rId5" Type="http://schemas.openxmlformats.org/officeDocument/2006/relationships/image" Target="../media/image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20.png"/><Relationship Id="rId5" Type="http://schemas.openxmlformats.org/officeDocument/2006/relationships/image" Target="../media/image1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21.png"/><Relationship Id="rId5" Type="http://schemas.openxmlformats.org/officeDocument/2006/relationships/image" Target="../media/image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Relationship Id="rId4" Type="http://schemas.openxmlformats.org/officeDocument/2006/relationships/image" Target="../media/image24.png"/><Relationship Id="rId5" Type="http://schemas.openxmlformats.org/officeDocument/2006/relationships/image" Target="../media/image1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Relationship Id="rId4" Type="http://schemas.openxmlformats.org/officeDocument/2006/relationships/image" Target="../media/image2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Relationship Id="rId4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/>
          <p:nvPr/>
        </p:nvSpPr>
        <p:spPr>
          <a:xfrm>
            <a:off x="5114925" y="2378422"/>
            <a:ext cx="1962150" cy="361950"/>
          </a:xfrm>
          <a:prstGeom prst="roundRect">
            <a:avLst>
              <a:gd fmla="val 50000" name="adj"/>
            </a:avLst>
          </a:prstGeom>
          <a:solidFill>
            <a:srgbClr val="2C355F"/>
          </a:solidFill>
          <a:ln cap="flat" cmpd="sng" w="9525">
            <a:solidFill>
              <a:srgbClr val="3A41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3"/>
          <p:cNvSpPr/>
          <p:nvPr/>
        </p:nvSpPr>
        <p:spPr>
          <a:xfrm>
            <a:off x="1809750" y="2978497"/>
            <a:ext cx="8572500" cy="700980"/>
          </a:xfrm>
          <a:prstGeom prst="rect">
            <a:avLst/>
          </a:prstGeom>
          <a:solidFill>
            <a:srgbClr val="A188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87" name="Google Shape;87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53050" y="2483197"/>
            <a:ext cx="15240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3"/>
          <p:cNvSpPr txBox="1"/>
          <p:nvPr/>
        </p:nvSpPr>
        <p:spPr>
          <a:xfrm>
            <a:off x="5098256" y="2454622"/>
            <a:ext cx="1995487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A5B4FC"/>
                </a:solidFill>
                <a:latin typeface="Inter"/>
                <a:ea typeface="Inter"/>
                <a:cs typeface="Inter"/>
                <a:sym typeface="Inter"/>
              </a:rPr>
              <a:t>Guia Prático de IA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470296" y="2978497"/>
            <a:ext cx="11251406" cy="700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IA Flashcards</a:t>
            </a:r>
            <a:endParaRPr/>
          </a:p>
        </p:txBody>
      </p:sp>
      <p:sp>
        <p:nvSpPr>
          <p:cNvPr id="90" name="Google Shape;90;p13"/>
          <p:cNvSpPr txBox="1"/>
          <p:nvPr/>
        </p:nvSpPr>
        <p:spPr>
          <a:xfrm>
            <a:off x="738187" y="3869977"/>
            <a:ext cx="107156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Coleção completa e estruturada de conceitos essenciais, ferramentas e melhores práticas para dominar a Inteligência Artificial do zero.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5" name="Google Shape;95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4"/>
          <p:cNvSpPr/>
          <p:nvPr/>
        </p:nvSpPr>
        <p:spPr>
          <a:xfrm>
            <a:off x="571500" y="2171700"/>
            <a:ext cx="5405437" cy="1543050"/>
          </a:xfrm>
          <a:prstGeom prst="roundRect">
            <a:avLst>
              <a:gd fmla="val 9876" name="adj"/>
            </a:avLst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4"/>
          <p:cNvSpPr/>
          <p:nvPr/>
        </p:nvSpPr>
        <p:spPr>
          <a:xfrm>
            <a:off x="6215062" y="2171700"/>
            <a:ext cx="5405437" cy="1543050"/>
          </a:xfrm>
          <a:prstGeom prst="roundRect">
            <a:avLst>
              <a:gd fmla="val 9876" name="adj"/>
            </a:avLst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4"/>
          <p:cNvSpPr/>
          <p:nvPr/>
        </p:nvSpPr>
        <p:spPr>
          <a:xfrm>
            <a:off x="571500" y="3952875"/>
            <a:ext cx="5405437" cy="1543050"/>
          </a:xfrm>
          <a:prstGeom prst="roundRect">
            <a:avLst>
              <a:gd fmla="val 9876" name="adj"/>
            </a:avLst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4"/>
          <p:cNvSpPr/>
          <p:nvPr/>
        </p:nvSpPr>
        <p:spPr>
          <a:xfrm>
            <a:off x="6215062" y="3952875"/>
            <a:ext cx="5405437" cy="1543050"/>
          </a:xfrm>
          <a:prstGeom prst="roundRect">
            <a:avLst>
              <a:gd fmla="val 9876" name="adj"/>
            </a:avLst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4"/>
          <p:cNvSpPr/>
          <p:nvPr/>
        </p:nvSpPr>
        <p:spPr>
          <a:xfrm>
            <a:off x="571500" y="3705225"/>
            <a:ext cx="5405437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4"/>
          <p:cNvSpPr/>
          <p:nvPr/>
        </p:nvSpPr>
        <p:spPr>
          <a:xfrm>
            <a:off x="571500" y="2171700"/>
            <a:ext cx="5405437" cy="47625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4"/>
          <p:cNvSpPr/>
          <p:nvPr/>
        </p:nvSpPr>
        <p:spPr>
          <a:xfrm>
            <a:off x="571500" y="2171700"/>
            <a:ext cx="9525" cy="1543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4"/>
          <p:cNvSpPr/>
          <p:nvPr/>
        </p:nvSpPr>
        <p:spPr>
          <a:xfrm>
            <a:off x="5967412" y="2171700"/>
            <a:ext cx="9525" cy="1543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4"/>
          <p:cNvSpPr/>
          <p:nvPr/>
        </p:nvSpPr>
        <p:spPr>
          <a:xfrm>
            <a:off x="6215062" y="3705225"/>
            <a:ext cx="5405437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4"/>
          <p:cNvSpPr/>
          <p:nvPr/>
        </p:nvSpPr>
        <p:spPr>
          <a:xfrm>
            <a:off x="6215062" y="2171700"/>
            <a:ext cx="5405437" cy="47625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4"/>
          <p:cNvSpPr/>
          <p:nvPr/>
        </p:nvSpPr>
        <p:spPr>
          <a:xfrm>
            <a:off x="6215062" y="2171700"/>
            <a:ext cx="9525" cy="1543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4"/>
          <p:cNvSpPr/>
          <p:nvPr/>
        </p:nvSpPr>
        <p:spPr>
          <a:xfrm>
            <a:off x="11610975" y="2171700"/>
            <a:ext cx="9525" cy="1543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14"/>
          <p:cNvSpPr/>
          <p:nvPr/>
        </p:nvSpPr>
        <p:spPr>
          <a:xfrm>
            <a:off x="571500" y="5486400"/>
            <a:ext cx="5405437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14"/>
          <p:cNvSpPr/>
          <p:nvPr/>
        </p:nvSpPr>
        <p:spPr>
          <a:xfrm>
            <a:off x="571500" y="3952875"/>
            <a:ext cx="5405437" cy="47625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14"/>
          <p:cNvSpPr/>
          <p:nvPr/>
        </p:nvSpPr>
        <p:spPr>
          <a:xfrm>
            <a:off x="571500" y="3952875"/>
            <a:ext cx="9525" cy="1543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4"/>
          <p:cNvSpPr/>
          <p:nvPr/>
        </p:nvSpPr>
        <p:spPr>
          <a:xfrm>
            <a:off x="5967412" y="3952875"/>
            <a:ext cx="9525" cy="1543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4"/>
          <p:cNvSpPr/>
          <p:nvPr/>
        </p:nvSpPr>
        <p:spPr>
          <a:xfrm>
            <a:off x="6215062" y="5486400"/>
            <a:ext cx="5405437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4"/>
          <p:cNvSpPr/>
          <p:nvPr/>
        </p:nvSpPr>
        <p:spPr>
          <a:xfrm>
            <a:off x="6215062" y="3952875"/>
            <a:ext cx="5405437" cy="47625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14"/>
          <p:cNvSpPr/>
          <p:nvPr/>
        </p:nvSpPr>
        <p:spPr>
          <a:xfrm>
            <a:off x="6215062" y="3952875"/>
            <a:ext cx="9525" cy="1543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4"/>
          <p:cNvSpPr/>
          <p:nvPr/>
        </p:nvSpPr>
        <p:spPr>
          <a:xfrm>
            <a:off x="11610975" y="3952875"/>
            <a:ext cx="9525" cy="1543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16" name="Google Shape;116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566737"/>
            <a:ext cx="390525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7" name="Google Shape;117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66775" y="2552700"/>
            <a:ext cx="209550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8" name="Google Shape;118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510337" y="2552700"/>
            <a:ext cx="180975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9" name="Google Shape;119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66775" y="4333875"/>
            <a:ext cx="266700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0" name="Google Shape;120;p1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510337" y="4333875"/>
            <a:ext cx="209550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4"/>
          <p:cNvSpPr txBox="1"/>
          <p:nvPr/>
        </p:nvSpPr>
        <p:spPr>
          <a:xfrm>
            <a:off x="1104900" y="476250"/>
            <a:ext cx="11087100" cy="523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Visão Geral dos Tópicos</a:t>
            </a:r>
            <a:endParaRPr/>
          </a:p>
        </p:txBody>
      </p:sp>
      <p:sp>
        <p:nvSpPr>
          <p:cNvPr id="122" name="Google Shape;122;p14"/>
          <p:cNvSpPr txBox="1"/>
          <p:nvPr/>
        </p:nvSpPr>
        <p:spPr>
          <a:xfrm>
            <a:off x="866775" y="2505075"/>
            <a:ext cx="5155644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0955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Ferramentas de IA</a:t>
            </a:r>
            <a:endParaRPr/>
          </a:p>
        </p:txBody>
      </p:sp>
      <p:sp>
        <p:nvSpPr>
          <p:cNvPr id="123" name="Google Shape;123;p14"/>
          <p:cNvSpPr txBox="1"/>
          <p:nvPr/>
        </p:nvSpPr>
        <p:spPr>
          <a:xfrm>
            <a:off x="866775" y="2962275"/>
            <a:ext cx="4910137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Principais plataformas generativas recomendadas para iniciantes começarem no mundo da inteligência artificial.</a:t>
            </a:r>
            <a:endParaRPr/>
          </a:p>
        </p:txBody>
      </p:sp>
      <p:sp>
        <p:nvSpPr>
          <p:cNvPr id="124" name="Google Shape;124;p14"/>
          <p:cNvSpPr txBox="1"/>
          <p:nvPr/>
        </p:nvSpPr>
        <p:spPr>
          <a:xfrm>
            <a:off x="6510337" y="2505075"/>
            <a:ext cx="5155644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8097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NotebookLM</a:t>
            </a:r>
            <a:endParaRPr/>
          </a:p>
        </p:txBody>
      </p:sp>
      <p:sp>
        <p:nvSpPr>
          <p:cNvPr id="125" name="Google Shape;125;p14"/>
          <p:cNvSpPr txBox="1"/>
          <p:nvPr/>
        </p:nvSpPr>
        <p:spPr>
          <a:xfrm>
            <a:off x="6510337" y="2962275"/>
            <a:ext cx="4910137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Uso da IA como especialista online baseado exclusivamente nos seus próprios documentos e fontes.</a:t>
            </a:r>
            <a:endParaRPr/>
          </a:p>
        </p:txBody>
      </p:sp>
      <p:sp>
        <p:nvSpPr>
          <p:cNvPr id="126" name="Google Shape;126;p14"/>
          <p:cNvSpPr txBox="1"/>
          <p:nvPr/>
        </p:nvSpPr>
        <p:spPr>
          <a:xfrm>
            <a:off x="866775" y="4286250"/>
            <a:ext cx="5155644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6670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Supervisão Humana</a:t>
            </a:r>
            <a:endParaRPr/>
          </a:p>
        </p:txBody>
      </p:sp>
      <p:sp>
        <p:nvSpPr>
          <p:cNvPr id="127" name="Google Shape;127;p14"/>
          <p:cNvSpPr txBox="1"/>
          <p:nvPr/>
        </p:nvSpPr>
        <p:spPr>
          <a:xfrm>
            <a:off x="866775" y="4743450"/>
            <a:ext cx="4910137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 importância do controle crítico para evitar erros, alucinações e entregas superficiais.</a:t>
            </a:r>
            <a:endParaRPr/>
          </a:p>
        </p:txBody>
      </p:sp>
      <p:sp>
        <p:nvSpPr>
          <p:cNvPr id="128" name="Google Shape;128;p14"/>
          <p:cNvSpPr txBox="1"/>
          <p:nvPr/>
        </p:nvSpPr>
        <p:spPr>
          <a:xfrm>
            <a:off x="6510337" y="4286250"/>
            <a:ext cx="5155644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0955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Primeiro Passo</a:t>
            </a:r>
            <a:endParaRPr/>
          </a:p>
        </p:txBody>
      </p:sp>
      <p:sp>
        <p:nvSpPr>
          <p:cNvPr id="129" name="Google Shape;129;p14"/>
          <p:cNvSpPr txBox="1"/>
          <p:nvPr/>
        </p:nvSpPr>
        <p:spPr>
          <a:xfrm>
            <a:off x="6510337" y="4743450"/>
            <a:ext cx="4910137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Estratégia prática para aprender IA aplicando comandos simples na automação do dia a dia.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4" name="Google Shape;134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5"/>
          <p:cNvSpPr/>
          <p:nvPr/>
        </p:nvSpPr>
        <p:spPr>
          <a:xfrm>
            <a:off x="571500" y="476250"/>
            <a:ext cx="11049000" cy="5905500"/>
          </a:xfrm>
          <a:prstGeom prst="roundRect">
            <a:avLst>
              <a:gd fmla="val 3870" name="adj"/>
            </a:avLst>
          </a:prstGeom>
          <a:solidFill>
            <a:srgbClr val="350C6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5"/>
          <p:cNvSpPr/>
          <p:nvPr/>
        </p:nvSpPr>
        <p:spPr>
          <a:xfrm>
            <a:off x="571500" y="6372225"/>
            <a:ext cx="11049000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5"/>
          <p:cNvSpPr/>
          <p:nvPr/>
        </p:nvSpPr>
        <p:spPr>
          <a:xfrm>
            <a:off x="571500" y="476250"/>
            <a:ext cx="11049000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5"/>
          <p:cNvSpPr/>
          <p:nvPr/>
        </p:nvSpPr>
        <p:spPr>
          <a:xfrm>
            <a:off x="571500" y="476250"/>
            <a:ext cx="76200" cy="590550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5"/>
          <p:cNvSpPr/>
          <p:nvPr/>
        </p:nvSpPr>
        <p:spPr>
          <a:xfrm>
            <a:off x="11610975" y="476250"/>
            <a:ext cx="9525" cy="5905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5"/>
          <p:cNvSpPr/>
          <p:nvPr/>
        </p:nvSpPr>
        <p:spPr>
          <a:xfrm>
            <a:off x="1123950" y="5429250"/>
            <a:ext cx="10010775" cy="4667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5"/>
          <p:cNvSpPr/>
          <p:nvPr/>
        </p:nvSpPr>
        <p:spPr>
          <a:xfrm>
            <a:off x="1123950" y="962025"/>
            <a:ext cx="2714625" cy="333375"/>
          </a:xfrm>
          <a:prstGeom prst="roundRect">
            <a:avLst>
              <a:gd fmla="val 50000" name="adj"/>
            </a:avLst>
          </a:prstGeom>
          <a:solidFill>
            <a:srgbClr val="5A175E"/>
          </a:solidFill>
          <a:ln cap="flat" cmpd="sng" w="9525">
            <a:solidFill>
              <a:srgbClr val="7F225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5"/>
          <p:cNvSpPr/>
          <p:nvPr/>
        </p:nvSpPr>
        <p:spPr>
          <a:xfrm>
            <a:off x="1123950" y="5429250"/>
            <a:ext cx="10010775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43" name="Google Shape;143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801350" y="5629275"/>
            <a:ext cx="333375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4" name="Google Shape;144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304925" y="1062037"/>
            <a:ext cx="142875" cy="133350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5"/>
          <p:cNvSpPr txBox="1"/>
          <p:nvPr/>
        </p:nvSpPr>
        <p:spPr>
          <a:xfrm>
            <a:off x="1514475" y="1038225"/>
            <a:ext cx="2247900" cy="180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FCA5A5"/>
                </a:solidFill>
                <a:latin typeface="Inter"/>
                <a:ea typeface="Inter"/>
                <a:cs typeface="Inter"/>
                <a:sym typeface="Inter"/>
              </a:rPr>
              <a:t>FLASHCARD 07 — PERGUNTA</a:t>
            </a:r>
            <a:endParaRPr/>
          </a:p>
        </p:txBody>
      </p:sp>
      <p:sp>
        <p:nvSpPr>
          <p:cNvPr id="146" name="Google Shape;146;p15"/>
          <p:cNvSpPr txBox="1"/>
          <p:nvPr/>
        </p:nvSpPr>
        <p:spPr>
          <a:xfrm>
            <a:off x="1123950" y="1485900"/>
            <a:ext cx="10106025" cy="10132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Cite três ferramentas de IA generativa populares e acessíveis para iniciantes.</a:t>
            </a:r>
            <a:endParaRPr/>
          </a:p>
        </p:txBody>
      </p:sp>
      <p:sp>
        <p:nvSpPr>
          <p:cNvPr id="147" name="Google Shape;147;p15"/>
          <p:cNvSpPr txBox="1"/>
          <p:nvPr/>
        </p:nvSpPr>
        <p:spPr>
          <a:xfrm>
            <a:off x="1123950" y="5667375"/>
            <a:ext cx="3202781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Tópico: Ferramentas Fundamentais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2" name="Google Shape;152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16"/>
          <p:cNvSpPr/>
          <p:nvPr/>
        </p:nvSpPr>
        <p:spPr>
          <a:xfrm>
            <a:off x="571500" y="2481262"/>
            <a:ext cx="3524250" cy="2705100"/>
          </a:xfrm>
          <a:prstGeom prst="roundRect">
            <a:avLst>
              <a:gd fmla="val 7042" name="adj"/>
            </a:avLst>
          </a:prstGeom>
          <a:solidFill>
            <a:srgbClr val="293445"/>
          </a:solidFill>
          <a:ln cap="flat" cmpd="sng" w="9525">
            <a:solidFill>
              <a:srgbClr val="353E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6"/>
          <p:cNvSpPr/>
          <p:nvPr/>
        </p:nvSpPr>
        <p:spPr>
          <a:xfrm>
            <a:off x="4333875" y="2481262"/>
            <a:ext cx="3524250" cy="2705100"/>
          </a:xfrm>
          <a:prstGeom prst="roundRect">
            <a:avLst>
              <a:gd fmla="val 7042" name="adj"/>
            </a:avLst>
          </a:prstGeom>
          <a:solidFill>
            <a:srgbClr val="293445"/>
          </a:solidFill>
          <a:ln cap="flat" cmpd="sng" w="9525">
            <a:solidFill>
              <a:srgbClr val="353E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6"/>
          <p:cNvSpPr/>
          <p:nvPr/>
        </p:nvSpPr>
        <p:spPr>
          <a:xfrm>
            <a:off x="8096250" y="2481262"/>
            <a:ext cx="3524250" cy="2705100"/>
          </a:xfrm>
          <a:prstGeom prst="roundRect">
            <a:avLst>
              <a:gd fmla="val 7042" name="adj"/>
            </a:avLst>
          </a:prstGeom>
          <a:solidFill>
            <a:srgbClr val="293445"/>
          </a:solidFill>
          <a:ln cap="flat" cmpd="sng" w="9525">
            <a:solidFill>
              <a:srgbClr val="353E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56" name="Google Shape;156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566737"/>
            <a:ext cx="257175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7" name="Google Shape;157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952625" y="2824162"/>
            <a:ext cx="762000" cy="762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8" name="Google Shape;158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0" y="2824162"/>
            <a:ext cx="762000" cy="762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9" name="Google Shape;159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477375" y="2824162"/>
            <a:ext cx="762000" cy="762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0" name="Google Shape;160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2162175" y="3033712"/>
            <a:ext cx="3429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1" name="Google Shape;161;p1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686925" y="3033712"/>
            <a:ext cx="342900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6"/>
          <p:cNvSpPr txBox="1"/>
          <p:nvPr/>
        </p:nvSpPr>
        <p:spPr>
          <a:xfrm>
            <a:off x="971550" y="476250"/>
            <a:ext cx="11220450" cy="523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Resposta — Flashcard 07</a:t>
            </a:r>
            <a:endParaRPr/>
          </a:p>
        </p:txBody>
      </p:sp>
      <p:sp>
        <p:nvSpPr>
          <p:cNvPr id="163" name="Google Shape;163;p16"/>
          <p:cNvSpPr txBox="1"/>
          <p:nvPr/>
        </p:nvSpPr>
        <p:spPr>
          <a:xfrm>
            <a:off x="1633537" y="3776662"/>
            <a:ext cx="1400175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ChatGPT</a:t>
            </a:r>
            <a:endParaRPr/>
          </a:p>
        </p:txBody>
      </p:sp>
      <p:sp>
        <p:nvSpPr>
          <p:cNvPr id="164" name="Google Shape;164;p16"/>
          <p:cNvSpPr txBox="1"/>
          <p:nvPr/>
        </p:nvSpPr>
        <p:spPr>
          <a:xfrm>
            <a:off x="440531" y="4300537"/>
            <a:ext cx="3786187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Ideal para textos, ideias, código e conversação geral com respostas rápidas e intuitivas.</a:t>
            </a:r>
            <a:endParaRPr/>
          </a:p>
        </p:txBody>
      </p:sp>
      <p:sp>
        <p:nvSpPr>
          <p:cNvPr id="165" name="Google Shape;165;p16"/>
          <p:cNvSpPr txBox="1"/>
          <p:nvPr/>
        </p:nvSpPr>
        <p:spPr>
          <a:xfrm>
            <a:off x="4945856" y="3776662"/>
            <a:ext cx="2300287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Google Gemini</a:t>
            </a:r>
            <a:endParaRPr/>
          </a:p>
        </p:txBody>
      </p:sp>
      <p:sp>
        <p:nvSpPr>
          <p:cNvPr id="166" name="Google Shape;166;p16"/>
          <p:cNvSpPr txBox="1"/>
          <p:nvPr/>
        </p:nvSpPr>
        <p:spPr>
          <a:xfrm>
            <a:off x="4202906" y="4300537"/>
            <a:ext cx="3786187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Integrado ao ecossistema Google, ótimo para pesquisas em tempo real e análise multimodal.</a:t>
            </a:r>
            <a:endParaRPr/>
          </a:p>
        </p:txBody>
      </p:sp>
      <p:sp>
        <p:nvSpPr>
          <p:cNvPr id="167" name="Google Shape;167;p16"/>
          <p:cNvSpPr txBox="1"/>
          <p:nvPr/>
        </p:nvSpPr>
        <p:spPr>
          <a:xfrm>
            <a:off x="9095779" y="3776662"/>
            <a:ext cx="152519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Claude.AI</a:t>
            </a:r>
            <a:endParaRPr/>
          </a:p>
        </p:txBody>
      </p:sp>
      <p:sp>
        <p:nvSpPr>
          <p:cNvPr id="168" name="Google Shape;168;p16"/>
          <p:cNvSpPr txBox="1"/>
          <p:nvPr/>
        </p:nvSpPr>
        <p:spPr>
          <a:xfrm>
            <a:off x="7965281" y="4300537"/>
            <a:ext cx="3786187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Excelente raciocínio lógico, escrita natural, análise profunda e interpretação de textos longos.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3" name="Google Shape;173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17"/>
          <p:cNvSpPr/>
          <p:nvPr/>
        </p:nvSpPr>
        <p:spPr>
          <a:xfrm>
            <a:off x="571500" y="476250"/>
            <a:ext cx="11049000" cy="5905500"/>
          </a:xfrm>
          <a:prstGeom prst="roundRect">
            <a:avLst>
              <a:gd fmla="val 3870" name="adj"/>
            </a:avLst>
          </a:prstGeom>
          <a:solidFill>
            <a:srgbClr val="1B306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7"/>
          <p:cNvSpPr/>
          <p:nvPr/>
        </p:nvSpPr>
        <p:spPr>
          <a:xfrm>
            <a:off x="571500" y="6372225"/>
            <a:ext cx="11049000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7"/>
          <p:cNvSpPr/>
          <p:nvPr/>
        </p:nvSpPr>
        <p:spPr>
          <a:xfrm>
            <a:off x="571500" y="476250"/>
            <a:ext cx="11049000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7"/>
          <p:cNvSpPr/>
          <p:nvPr/>
        </p:nvSpPr>
        <p:spPr>
          <a:xfrm>
            <a:off x="571500" y="476250"/>
            <a:ext cx="76200" cy="59055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7"/>
          <p:cNvSpPr/>
          <p:nvPr/>
        </p:nvSpPr>
        <p:spPr>
          <a:xfrm>
            <a:off x="11610975" y="476250"/>
            <a:ext cx="9525" cy="5905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7"/>
          <p:cNvSpPr/>
          <p:nvPr/>
        </p:nvSpPr>
        <p:spPr>
          <a:xfrm>
            <a:off x="1123950" y="5429250"/>
            <a:ext cx="10010775" cy="4667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7"/>
          <p:cNvSpPr/>
          <p:nvPr/>
        </p:nvSpPr>
        <p:spPr>
          <a:xfrm>
            <a:off x="1123950" y="962025"/>
            <a:ext cx="2724150" cy="333375"/>
          </a:xfrm>
          <a:prstGeom prst="roundRect">
            <a:avLst>
              <a:gd fmla="val 50000" name="adj"/>
            </a:avLst>
          </a:prstGeom>
          <a:solidFill>
            <a:srgbClr val="453466"/>
          </a:solidFill>
          <a:ln cap="flat" cmpd="sng" w="9525">
            <a:solidFill>
              <a:srgbClr val="7038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7"/>
          <p:cNvSpPr/>
          <p:nvPr/>
        </p:nvSpPr>
        <p:spPr>
          <a:xfrm>
            <a:off x="1123950" y="5429250"/>
            <a:ext cx="10010775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82" name="Google Shape;182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829925" y="5629275"/>
            <a:ext cx="3048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3" name="Google Shape;183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304925" y="1062037"/>
            <a:ext cx="142875" cy="133350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17"/>
          <p:cNvSpPr txBox="1"/>
          <p:nvPr/>
        </p:nvSpPr>
        <p:spPr>
          <a:xfrm>
            <a:off x="1514475" y="1038225"/>
            <a:ext cx="2257425" cy="180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FCA5A5"/>
                </a:solidFill>
                <a:latin typeface="Inter"/>
                <a:ea typeface="Inter"/>
                <a:cs typeface="Inter"/>
                <a:sym typeface="Inter"/>
              </a:rPr>
              <a:t>FLASHCARD 08 — PERGUNTA</a:t>
            </a:r>
            <a:endParaRPr/>
          </a:p>
        </p:txBody>
      </p:sp>
      <p:sp>
        <p:nvSpPr>
          <p:cNvPr id="185" name="Google Shape;185;p17"/>
          <p:cNvSpPr txBox="1"/>
          <p:nvPr/>
        </p:nvSpPr>
        <p:spPr>
          <a:xfrm>
            <a:off x="1123950" y="1485900"/>
            <a:ext cx="10106025" cy="10132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O que significa usar a IA como um "especialista online" (NotebookLM)?</a:t>
            </a:r>
            <a:endParaRPr/>
          </a:p>
        </p:txBody>
      </p:sp>
      <p:sp>
        <p:nvSpPr>
          <p:cNvPr id="186" name="Google Shape;186;p17"/>
          <p:cNvSpPr txBox="1"/>
          <p:nvPr/>
        </p:nvSpPr>
        <p:spPr>
          <a:xfrm>
            <a:off x="1123950" y="5667375"/>
            <a:ext cx="3000375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Tópico: Contexto &amp; Documentos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1" name="Google Shape;191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18"/>
          <p:cNvSpPr/>
          <p:nvPr/>
        </p:nvSpPr>
        <p:spPr>
          <a:xfrm>
            <a:off x="571500" y="476250"/>
            <a:ext cx="11049000" cy="5905500"/>
          </a:xfrm>
          <a:prstGeom prst="roundRect">
            <a:avLst>
              <a:gd fmla="val 3870" name="adj"/>
            </a:avLst>
          </a:prstGeom>
          <a:solidFill>
            <a:srgbClr val="043D2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8"/>
          <p:cNvSpPr/>
          <p:nvPr/>
        </p:nvSpPr>
        <p:spPr>
          <a:xfrm>
            <a:off x="571500" y="6372225"/>
            <a:ext cx="11049000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8"/>
          <p:cNvSpPr/>
          <p:nvPr/>
        </p:nvSpPr>
        <p:spPr>
          <a:xfrm>
            <a:off x="571500" y="476250"/>
            <a:ext cx="11049000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18"/>
          <p:cNvSpPr/>
          <p:nvPr/>
        </p:nvSpPr>
        <p:spPr>
          <a:xfrm>
            <a:off x="571500" y="476250"/>
            <a:ext cx="76200" cy="59055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8"/>
          <p:cNvSpPr/>
          <p:nvPr/>
        </p:nvSpPr>
        <p:spPr>
          <a:xfrm>
            <a:off x="11610975" y="476250"/>
            <a:ext cx="9525" cy="5905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8"/>
          <p:cNvSpPr/>
          <p:nvPr/>
        </p:nvSpPr>
        <p:spPr>
          <a:xfrm>
            <a:off x="1123950" y="5429250"/>
            <a:ext cx="10010775" cy="4667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8"/>
          <p:cNvSpPr/>
          <p:nvPr/>
        </p:nvSpPr>
        <p:spPr>
          <a:xfrm>
            <a:off x="1123950" y="962025"/>
            <a:ext cx="2695575" cy="333375"/>
          </a:xfrm>
          <a:prstGeom prst="roundRect">
            <a:avLst>
              <a:gd fmla="val 50000" name="adj"/>
            </a:avLst>
          </a:prstGeom>
          <a:solidFill>
            <a:srgbClr val="0A5838"/>
          </a:solidFill>
          <a:ln cap="flat" cmpd="sng" w="9525">
            <a:solidFill>
              <a:srgbClr val="1073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8"/>
          <p:cNvSpPr/>
          <p:nvPr/>
        </p:nvSpPr>
        <p:spPr>
          <a:xfrm>
            <a:off x="1123950" y="5429250"/>
            <a:ext cx="10010775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00" name="Google Shape;200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934700" y="5629275"/>
            <a:ext cx="200025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1" name="Google Shape;201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304925" y="1062037"/>
            <a:ext cx="142875" cy="133350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18"/>
          <p:cNvSpPr txBox="1"/>
          <p:nvPr/>
        </p:nvSpPr>
        <p:spPr>
          <a:xfrm>
            <a:off x="1514475" y="1038225"/>
            <a:ext cx="2228850" cy="180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86EFAC"/>
                </a:solidFill>
                <a:latin typeface="Inter"/>
                <a:ea typeface="Inter"/>
                <a:cs typeface="Inter"/>
                <a:sym typeface="Inter"/>
              </a:rPr>
              <a:t>FLASHCARD 08 — RESPOSTA</a:t>
            </a:r>
            <a:endParaRPr/>
          </a:p>
        </p:txBody>
      </p:sp>
      <p:sp>
        <p:nvSpPr>
          <p:cNvPr id="203" name="Google Shape;203;p18"/>
          <p:cNvSpPr txBox="1"/>
          <p:nvPr/>
        </p:nvSpPr>
        <p:spPr>
          <a:xfrm>
            <a:off x="1123950" y="1485900"/>
            <a:ext cx="10106025" cy="15198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Carregar documentos específicos para que a IA responda perguntas baseando-se apenas naquele material fornecido.</a:t>
            </a:r>
            <a:endParaRPr/>
          </a:p>
        </p:txBody>
      </p:sp>
      <p:sp>
        <p:nvSpPr>
          <p:cNvPr id="204" name="Google Shape;204;p18"/>
          <p:cNvSpPr txBox="1"/>
          <p:nvPr/>
        </p:nvSpPr>
        <p:spPr>
          <a:xfrm>
            <a:off x="1123950" y="5667375"/>
            <a:ext cx="5179218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Garante respostas precisas e sem contaminação externa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9" name="Google Shape;209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19"/>
          <p:cNvSpPr/>
          <p:nvPr/>
        </p:nvSpPr>
        <p:spPr>
          <a:xfrm>
            <a:off x="571500" y="476250"/>
            <a:ext cx="11049000" cy="5905500"/>
          </a:xfrm>
          <a:prstGeom prst="roundRect">
            <a:avLst>
              <a:gd fmla="val 3870" name="adj"/>
            </a:avLst>
          </a:prstGeom>
          <a:solidFill>
            <a:srgbClr val="6A0C2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19"/>
          <p:cNvSpPr/>
          <p:nvPr/>
        </p:nvSpPr>
        <p:spPr>
          <a:xfrm>
            <a:off x="571500" y="6372225"/>
            <a:ext cx="11049000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19"/>
          <p:cNvSpPr/>
          <p:nvPr/>
        </p:nvSpPr>
        <p:spPr>
          <a:xfrm>
            <a:off x="571500" y="476250"/>
            <a:ext cx="11049000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9"/>
          <p:cNvSpPr/>
          <p:nvPr/>
        </p:nvSpPr>
        <p:spPr>
          <a:xfrm>
            <a:off x="571500" y="476250"/>
            <a:ext cx="76200" cy="590550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19"/>
          <p:cNvSpPr/>
          <p:nvPr/>
        </p:nvSpPr>
        <p:spPr>
          <a:xfrm>
            <a:off x="11610975" y="476250"/>
            <a:ext cx="9525" cy="5905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9"/>
          <p:cNvSpPr/>
          <p:nvPr/>
        </p:nvSpPr>
        <p:spPr>
          <a:xfrm>
            <a:off x="1123950" y="5429250"/>
            <a:ext cx="10010775" cy="4667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9"/>
          <p:cNvSpPr/>
          <p:nvPr/>
        </p:nvSpPr>
        <p:spPr>
          <a:xfrm>
            <a:off x="1123950" y="962025"/>
            <a:ext cx="2724150" cy="333375"/>
          </a:xfrm>
          <a:prstGeom prst="roundRect">
            <a:avLst>
              <a:gd fmla="val 50000" name="adj"/>
            </a:avLst>
          </a:prstGeom>
          <a:solidFill>
            <a:srgbClr val="85172E"/>
          </a:solidFill>
          <a:ln cap="flat" cmpd="sng" w="9525">
            <a:solidFill>
              <a:srgbClr val="9F22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9"/>
          <p:cNvSpPr/>
          <p:nvPr/>
        </p:nvSpPr>
        <p:spPr>
          <a:xfrm>
            <a:off x="1123950" y="5429250"/>
            <a:ext cx="10010775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18" name="Google Shape;218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868025" y="5629275"/>
            <a:ext cx="2667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9" name="Google Shape;219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304925" y="1062037"/>
            <a:ext cx="142875" cy="133350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19"/>
          <p:cNvSpPr txBox="1"/>
          <p:nvPr/>
        </p:nvSpPr>
        <p:spPr>
          <a:xfrm>
            <a:off x="1514475" y="1038225"/>
            <a:ext cx="2257425" cy="180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FCA5A5"/>
                </a:solidFill>
                <a:latin typeface="Inter"/>
                <a:ea typeface="Inter"/>
                <a:cs typeface="Inter"/>
                <a:sym typeface="Inter"/>
              </a:rPr>
              <a:t>FLASHCARD 09 — PERGUNTA</a:t>
            </a:r>
            <a:endParaRPr/>
          </a:p>
        </p:txBody>
      </p:sp>
      <p:sp>
        <p:nvSpPr>
          <p:cNvPr id="221" name="Google Shape;221;p19"/>
          <p:cNvSpPr txBox="1"/>
          <p:nvPr/>
        </p:nvSpPr>
        <p:spPr>
          <a:xfrm>
            <a:off x="1123950" y="1485900"/>
            <a:ext cx="10106025" cy="10132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Por que a supervisão humana é essencial ao utilizar resultados da IA?</a:t>
            </a:r>
            <a:endParaRPr/>
          </a:p>
        </p:txBody>
      </p:sp>
      <p:sp>
        <p:nvSpPr>
          <p:cNvPr id="222" name="Google Shape;222;p19"/>
          <p:cNvSpPr txBox="1"/>
          <p:nvPr/>
        </p:nvSpPr>
        <p:spPr>
          <a:xfrm>
            <a:off x="1123950" y="5667375"/>
            <a:ext cx="2774156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Tópico: Controle de Qualidade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7" name="Google Shape;227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20"/>
          <p:cNvSpPr/>
          <p:nvPr/>
        </p:nvSpPr>
        <p:spPr>
          <a:xfrm>
            <a:off x="571500" y="476250"/>
            <a:ext cx="11049000" cy="5905500"/>
          </a:xfrm>
          <a:prstGeom prst="roundRect">
            <a:avLst>
              <a:gd fmla="val 3870" name="adj"/>
            </a:avLst>
          </a:prstGeom>
          <a:solidFill>
            <a:srgbClr val="5F280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20"/>
          <p:cNvSpPr/>
          <p:nvPr/>
        </p:nvSpPr>
        <p:spPr>
          <a:xfrm>
            <a:off x="571500" y="6372225"/>
            <a:ext cx="11049000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20"/>
          <p:cNvSpPr/>
          <p:nvPr/>
        </p:nvSpPr>
        <p:spPr>
          <a:xfrm>
            <a:off x="571500" y="476250"/>
            <a:ext cx="11049000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20"/>
          <p:cNvSpPr/>
          <p:nvPr/>
        </p:nvSpPr>
        <p:spPr>
          <a:xfrm>
            <a:off x="571500" y="476250"/>
            <a:ext cx="76200" cy="59055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20"/>
          <p:cNvSpPr/>
          <p:nvPr/>
        </p:nvSpPr>
        <p:spPr>
          <a:xfrm>
            <a:off x="11610975" y="476250"/>
            <a:ext cx="9525" cy="5905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20"/>
          <p:cNvSpPr/>
          <p:nvPr/>
        </p:nvSpPr>
        <p:spPr>
          <a:xfrm>
            <a:off x="1123950" y="5429250"/>
            <a:ext cx="10010775" cy="4667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20"/>
          <p:cNvSpPr/>
          <p:nvPr/>
        </p:nvSpPr>
        <p:spPr>
          <a:xfrm>
            <a:off x="1123950" y="962025"/>
            <a:ext cx="2695575" cy="333375"/>
          </a:xfrm>
          <a:prstGeom prst="roundRect">
            <a:avLst>
              <a:gd fmla="val 50000" name="adj"/>
            </a:avLst>
          </a:prstGeom>
          <a:solidFill>
            <a:srgbClr val="53471A"/>
          </a:solidFill>
          <a:ln cap="flat" cmpd="sng" w="9525">
            <a:solidFill>
              <a:srgbClr val="4767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20"/>
          <p:cNvSpPr/>
          <p:nvPr/>
        </p:nvSpPr>
        <p:spPr>
          <a:xfrm>
            <a:off x="1123950" y="5429250"/>
            <a:ext cx="10010775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36" name="Google Shape;236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801350" y="5629275"/>
            <a:ext cx="333375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7" name="Google Shape;237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304925" y="1062037"/>
            <a:ext cx="142875" cy="133350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20"/>
          <p:cNvSpPr txBox="1"/>
          <p:nvPr/>
        </p:nvSpPr>
        <p:spPr>
          <a:xfrm>
            <a:off x="1514475" y="1038225"/>
            <a:ext cx="2228850" cy="180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86EFAC"/>
                </a:solidFill>
                <a:latin typeface="Inter"/>
                <a:ea typeface="Inter"/>
                <a:cs typeface="Inter"/>
                <a:sym typeface="Inter"/>
              </a:rPr>
              <a:t>FLASHCARD 09 — RESPOSTA</a:t>
            </a:r>
            <a:endParaRPr/>
          </a:p>
        </p:txBody>
      </p:sp>
      <p:sp>
        <p:nvSpPr>
          <p:cNvPr id="239" name="Google Shape;239;p20"/>
          <p:cNvSpPr txBox="1"/>
          <p:nvPr/>
        </p:nvSpPr>
        <p:spPr>
          <a:xfrm>
            <a:off x="1123950" y="1485900"/>
            <a:ext cx="10106025" cy="15198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Para evitar a dependência excessiva e garantir que a entrega não seja superficial ou contenha informações incorretas.</a:t>
            </a:r>
            <a:endParaRPr/>
          </a:p>
        </p:txBody>
      </p:sp>
      <p:sp>
        <p:nvSpPr>
          <p:cNvPr id="240" name="Google Shape;240;p20"/>
          <p:cNvSpPr txBox="1"/>
          <p:nvPr/>
        </p:nvSpPr>
        <p:spPr>
          <a:xfrm>
            <a:off x="1123950" y="5667375"/>
            <a:ext cx="4548187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O ser humano é o responsável final pela validação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45" name="Google Shape;245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Google Shape;246;p21"/>
          <p:cNvSpPr/>
          <p:nvPr/>
        </p:nvSpPr>
        <p:spPr>
          <a:xfrm>
            <a:off x="571500" y="476250"/>
            <a:ext cx="11049000" cy="5905500"/>
          </a:xfrm>
          <a:prstGeom prst="roundRect">
            <a:avLst>
              <a:gd fmla="val 3870" name="adj"/>
            </a:avLst>
          </a:prstGeom>
          <a:solidFill>
            <a:srgbClr val="350C6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21"/>
          <p:cNvSpPr/>
          <p:nvPr/>
        </p:nvSpPr>
        <p:spPr>
          <a:xfrm>
            <a:off x="571500" y="6372225"/>
            <a:ext cx="11049000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21"/>
          <p:cNvSpPr/>
          <p:nvPr/>
        </p:nvSpPr>
        <p:spPr>
          <a:xfrm>
            <a:off x="571500" y="476250"/>
            <a:ext cx="11049000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21"/>
          <p:cNvSpPr/>
          <p:nvPr/>
        </p:nvSpPr>
        <p:spPr>
          <a:xfrm>
            <a:off x="571500" y="476250"/>
            <a:ext cx="76200" cy="590550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21"/>
          <p:cNvSpPr/>
          <p:nvPr/>
        </p:nvSpPr>
        <p:spPr>
          <a:xfrm>
            <a:off x="11610975" y="476250"/>
            <a:ext cx="9525" cy="5905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21"/>
          <p:cNvSpPr/>
          <p:nvPr/>
        </p:nvSpPr>
        <p:spPr>
          <a:xfrm>
            <a:off x="1123950" y="5429250"/>
            <a:ext cx="10010775" cy="4667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21"/>
          <p:cNvSpPr/>
          <p:nvPr/>
        </p:nvSpPr>
        <p:spPr>
          <a:xfrm>
            <a:off x="1123950" y="962025"/>
            <a:ext cx="2695575" cy="333375"/>
          </a:xfrm>
          <a:prstGeom prst="roundRect">
            <a:avLst>
              <a:gd fmla="val 50000" name="adj"/>
            </a:avLst>
          </a:prstGeom>
          <a:solidFill>
            <a:srgbClr val="5A175E"/>
          </a:solidFill>
          <a:ln cap="flat" cmpd="sng" w="9525">
            <a:solidFill>
              <a:srgbClr val="7F225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21"/>
          <p:cNvSpPr/>
          <p:nvPr/>
        </p:nvSpPr>
        <p:spPr>
          <a:xfrm>
            <a:off x="1123950" y="5429250"/>
            <a:ext cx="10010775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54" name="Google Shape;254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934700" y="5629275"/>
            <a:ext cx="200025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5" name="Google Shape;255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304925" y="1062037"/>
            <a:ext cx="142875" cy="133350"/>
          </a:xfrm>
          <a:prstGeom prst="rect">
            <a:avLst/>
          </a:prstGeom>
          <a:noFill/>
          <a:ln>
            <a:noFill/>
          </a:ln>
        </p:spPr>
      </p:pic>
      <p:sp>
        <p:nvSpPr>
          <p:cNvPr id="256" name="Google Shape;256;p21"/>
          <p:cNvSpPr txBox="1"/>
          <p:nvPr/>
        </p:nvSpPr>
        <p:spPr>
          <a:xfrm>
            <a:off x="1514475" y="1038225"/>
            <a:ext cx="2228850" cy="180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FCA5A5"/>
                </a:solidFill>
                <a:latin typeface="Inter"/>
                <a:ea typeface="Inter"/>
                <a:cs typeface="Inter"/>
                <a:sym typeface="Inter"/>
              </a:rPr>
              <a:t>FLASHCARD 10 — PERGUNTA</a:t>
            </a:r>
            <a:endParaRPr/>
          </a:p>
        </p:txBody>
      </p:sp>
      <p:sp>
        <p:nvSpPr>
          <p:cNvPr id="257" name="Google Shape;257;p21"/>
          <p:cNvSpPr txBox="1"/>
          <p:nvPr/>
        </p:nvSpPr>
        <p:spPr>
          <a:xfrm>
            <a:off x="1123950" y="1485900"/>
            <a:ext cx="10106025" cy="10132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Qual o primeiro passo prático sugerido para aprender IA do zero?</a:t>
            </a:r>
            <a:endParaRPr/>
          </a:p>
        </p:txBody>
      </p:sp>
      <p:sp>
        <p:nvSpPr>
          <p:cNvPr id="258" name="Google Shape;258;p21"/>
          <p:cNvSpPr txBox="1"/>
          <p:nvPr/>
        </p:nvSpPr>
        <p:spPr>
          <a:xfrm>
            <a:off x="1123950" y="5667375"/>
            <a:ext cx="2607468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Tópico: Aprendizado Prático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63" name="Google Shape;263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4" name="Google Shape;264;p22"/>
          <p:cNvSpPr/>
          <p:nvPr/>
        </p:nvSpPr>
        <p:spPr>
          <a:xfrm>
            <a:off x="571500" y="476250"/>
            <a:ext cx="11049000" cy="5905500"/>
          </a:xfrm>
          <a:prstGeom prst="roundRect">
            <a:avLst>
              <a:gd fmla="val 3870" name="adj"/>
            </a:avLst>
          </a:prstGeom>
          <a:solidFill>
            <a:srgbClr val="1B306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22"/>
          <p:cNvSpPr/>
          <p:nvPr/>
        </p:nvSpPr>
        <p:spPr>
          <a:xfrm>
            <a:off x="571500" y="6372225"/>
            <a:ext cx="11049000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22"/>
          <p:cNvSpPr/>
          <p:nvPr/>
        </p:nvSpPr>
        <p:spPr>
          <a:xfrm>
            <a:off x="571500" y="476250"/>
            <a:ext cx="11049000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22"/>
          <p:cNvSpPr/>
          <p:nvPr/>
        </p:nvSpPr>
        <p:spPr>
          <a:xfrm>
            <a:off x="571500" y="476250"/>
            <a:ext cx="76200" cy="59055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22"/>
          <p:cNvSpPr/>
          <p:nvPr/>
        </p:nvSpPr>
        <p:spPr>
          <a:xfrm>
            <a:off x="11610975" y="476250"/>
            <a:ext cx="9525" cy="5905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22"/>
          <p:cNvSpPr/>
          <p:nvPr/>
        </p:nvSpPr>
        <p:spPr>
          <a:xfrm>
            <a:off x="1123950" y="5429250"/>
            <a:ext cx="10010775" cy="4667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22"/>
          <p:cNvSpPr/>
          <p:nvPr/>
        </p:nvSpPr>
        <p:spPr>
          <a:xfrm>
            <a:off x="1123950" y="962025"/>
            <a:ext cx="2667000" cy="333375"/>
          </a:xfrm>
          <a:prstGeom prst="roundRect">
            <a:avLst>
              <a:gd fmla="val 50000" name="adj"/>
            </a:avLst>
          </a:prstGeom>
          <a:solidFill>
            <a:srgbClr val="1C4E6C"/>
          </a:solidFill>
          <a:ln cap="flat" cmpd="sng" w="9525">
            <a:solidFill>
              <a:srgbClr val="1E6C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22"/>
          <p:cNvSpPr/>
          <p:nvPr/>
        </p:nvSpPr>
        <p:spPr>
          <a:xfrm>
            <a:off x="1123950" y="5429250"/>
            <a:ext cx="10010775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72" name="Google Shape;272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801350" y="5629275"/>
            <a:ext cx="333375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3" name="Google Shape;273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304925" y="1062037"/>
            <a:ext cx="142875" cy="133350"/>
          </a:xfrm>
          <a:prstGeom prst="rect">
            <a:avLst/>
          </a:prstGeom>
          <a:noFill/>
          <a:ln>
            <a:noFill/>
          </a:ln>
        </p:spPr>
      </p:pic>
      <p:sp>
        <p:nvSpPr>
          <p:cNvPr id="274" name="Google Shape;274;p22"/>
          <p:cNvSpPr txBox="1"/>
          <p:nvPr/>
        </p:nvSpPr>
        <p:spPr>
          <a:xfrm>
            <a:off x="1514475" y="1038225"/>
            <a:ext cx="2200275" cy="180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86EFAC"/>
                </a:solidFill>
                <a:latin typeface="Inter"/>
                <a:ea typeface="Inter"/>
                <a:cs typeface="Inter"/>
                <a:sym typeface="Inter"/>
              </a:rPr>
              <a:t>FLASHCARD 10 — RESPOSTA</a:t>
            </a:r>
            <a:endParaRPr/>
          </a:p>
        </p:txBody>
      </p:sp>
      <p:sp>
        <p:nvSpPr>
          <p:cNvPr id="275" name="Google Shape;275;p22"/>
          <p:cNvSpPr txBox="1"/>
          <p:nvPr/>
        </p:nvSpPr>
        <p:spPr>
          <a:xfrm>
            <a:off x="1123950" y="1485900"/>
            <a:ext cx="10106025" cy="10132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Testar interfaces gratuitas e praticar comandos simples para automatizar tarefas repetitivas do dia a dia.</a:t>
            </a:r>
            <a:endParaRPr/>
          </a:p>
        </p:txBody>
      </p:sp>
      <p:sp>
        <p:nvSpPr>
          <p:cNvPr id="276" name="Google Shape;276;p22"/>
          <p:cNvSpPr txBox="1"/>
          <p:nvPr/>
        </p:nvSpPr>
        <p:spPr>
          <a:xfrm>
            <a:off x="1123950" y="5667375"/>
            <a:ext cx="4631531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Consistência e prática geram domínio do uso de IA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81" name="Google Shape;281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82" name="Google Shape;282;p23"/>
          <p:cNvSpPr/>
          <p:nvPr/>
        </p:nvSpPr>
        <p:spPr>
          <a:xfrm>
            <a:off x="571500" y="3562350"/>
            <a:ext cx="757683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23"/>
          <p:cNvSpPr/>
          <p:nvPr/>
        </p:nvSpPr>
        <p:spPr>
          <a:xfrm>
            <a:off x="1329183" y="3562350"/>
            <a:ext cx="3984426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23"/>
          <p:cNvSpPr/>
          <p:nvPr/>
        </p:nvSpPr>
        <p:spPr>
          <a:xfrm>
            <a:off x="5313610" y="3562350"/>
            <a:ext cx="6306889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23"/>
          <p:cNvSpPr/>
          <p:nvPr/>
        </p:nvSpPr>
        <p:spPr>
          <a:xfrm>
            <a:off x="571500" y="4143375"/>
            <a:ext cx="757683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23"/>
          <p:cNvSpPr/>
          <p:nvPr/>
        </p:nvSpPr>
        <p:spPr>
          <a:xfrm>
            <a:off x="1329183" y="4143375"/>
            <a:ext cx="3984426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23"/>
          <p:cNvSpPr/>
          <p:nvPr/>
        </p:nvSpPr>
        <p:spPr>
          <a:xfrm>
            <a:off x="5313610" y="4143375"/>
            <a:ext cx="6306889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23"/>
          <p:cNvSpPr/>
          <p:nvPr/>
        </p:nvSpPr>
        <p:spPr>
          <a:xfrm>
            <a:off x="571500" y="4724400"/>
            <a:ext cx="757683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23"/>
          <p:cNvSpPr/>
          <p:nvPr/>
        </p:nvSpPr>
        <p:spPr>
          <a:xfrm>
            <a:off x="1329183" y="4724400"/>
            <a:ext cx="3984426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23"/>
          <p:cNvSpPr/>
          <p:nvPr/>
        </p:nvSpPr>
        <p:spPr>
          <a:xfrm>
            <a:off x="5313610" y="4724400"/>
            <a:ext cx="6306889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91" name="Google Shape;291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566737"/>
            <a:ext cx="342900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23"/>
          <p:cNvSpPr/>
          <p:nvPr/>
        </p:nvSpPr>
        <p:spPr>
          <a:xfrm>
            <a:off x="571500" y="2357437"/>
            <a:ext cx="11049000" cy="2952750"/>
          </a:xfrm>
          <a:prstGeom prst="roundRect">
            <a:avLst>
              <a:gd fmla="val 0" name="adj"/>
            </a:avLst>
          </a:prstGeom>
          <a:solidFill>
            <a:srgbClr val="334155"/>
          </a:soli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93" name="Google Shape;293;p23"/>
          <p:cNvGraphicFramePr/>
          <p:nvPr/>
        </p:nvGraphicFramePr>
        <p:xfrm>
          <a:off x="571500" y="235743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{06160D3D-0E0E-4182-91C9-945F2FA55FE6}</a:tableStyleId>
              </a:tblPr>
              <a:tblGrid>
                <a:gridCol w="757675"/>
                <a:gridCol w="3984425"/>
                <a:gridCol w="6306900"/>
              </a:tblGrid>
              <a:tr h="5905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818CF8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Nº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818CF8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Pergunta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818CF8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Conceito Chave / Resposta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E2E8F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07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E2E8F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Ferramentas populares para iniciantes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E2E8F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ChatGPT, Google Gemini e Claude.AI.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34155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E2E8F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08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E2E8F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Especialista online (NotebookLM)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E2E8F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Basear respostas exclusivamente nos documentos carregados.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34155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E2E8F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09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E2E8F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Importância da supervisão humana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E2E8F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Evitar dependência, erros e entregas superficiais.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34155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E2E8F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E2E8F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Primeiro passo para aprender IA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E2E8F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Testar ferramentas gratuitas e automatizar tarefas diárias.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34155"/>
                    </a:solidFill>
                  </a:tcPr>
                </a:tc>
              </a:tr>
            </a:tbl>
          </a:graphicData>
        </a:graphic>
      </p:graphicFrame>
      <p:sp>
        <p:nvSpPr>
          <p:cNvPr id="294" name="Google Shape;294;p23"/>
          <p:cNvSpPr txBox="1"/>
          <p:nvPr/>
        </p:nvSpPr>
        <p:spPr>
          <a:xfrm>
            <a:off x="1057275" y="476250"/>
            <a:ext cx="11134725" cy="523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Síntese dos Flashcards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99" name="Google Shape;299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0" name="Google Shape;300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981200"/>
            <a:ext cx="11049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301" name="Google Shape;301;p24"/>
          <p:cNvSpPr txBox="1"/>
          <p:nvPr/>
        </p:nvSpPr>
        <p:spPr>
          <a:xfrm>
            <a:off x="-404812" y="2981325"/>
            <a:ext cx="13001625" cy="809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Bons Estudos!</a:t>
            </a:r>
            <a:endParaRPr/>
          </a:p>
        </p:txBody>
      </p:sp>
      <p:sp>
        <p:nvSpPr>
          <p:cNvPr id="302" name="Google Shape;302;p24"/>
          <p:cNvSpPr txBox="1"/>
          <p:nvPr/>
        </p:nvSpPr>
        <p:spPr>
          <a:xfrm>
            <a:off x="1928812" y="3981450"/>
            <a:ext cx="83343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Aplique estes conceitos diariamente para obter o máximo rendimento na sua jornada de aprendizado em Inteligência Artificial.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