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"/>
      <p:regular r:id="rId19"/>
      <p:bold r:id="rId20"/>
      <p:italic r:id="rId21"/>
      <p:boldItalic r:id="rId22"/>
    </p:embeddedFont>
    <p:embeddedFont>
      <p:font typeface="Poppi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9A6177-F007-4BC9-A717-A9DB08C38643}">
  <a:tblStyle styleId="{AB9A6177-F007-4BC9-A717-A9DB08C3864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21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5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2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1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4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2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5114925" y="2378422"/>
            <a:ext cx="1962150" cy="361950"/>
          </a:xfrm>
          <a:prstGeom prst="roundRect">
            <a:avLst>
              <a:gd fmla="val 50000" name="adj"/>
            </a:avLst>
          </a:prstGeom>
          <a:solidFill>
            <a:srgbClr val="2C355F"/>
          </a:solidFill>
          <a:ln cap="flat" cmpd="sng" w="9525">
            <a:solidFill>
              <a:srgbClr val="3A41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1809750" y="2978497"/>
            <a:ext cx="8572500" cy="700980"/>
          </a:xfrm>
          <a:prstGeom prst="rect">
            <a:avLst/>
          </a:prstGeom>
          <a:solidFill>
            <a:srgbClr val="A188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53050" y="2483197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5098256" y="2454622"/>
            <a:ext cx="1995487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A5B4FC"/>
                </a:solidFill>
                <a:latin typeface="Inter"/>
                <a:ea typeface="Inter"/>
                <a:cs typeface="Inter"/>
                <a:sym typeface="Inter"/>
              </a:rPr>
              <a:t>Guia Prático de IA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70296" y="2978497"/>
            <a:ext cx="11251406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IA Flashcards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38187" y="3869977"/>
            <a:ext cx="10715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Coleção completa e estruturada de conceitos essenciais, ferramentas e melhores práticas para dominar a Inteligência Artificial do zero.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571500" y="2171700"/>
            <a:ext cx="5405437" cy="1543050"/>
          </a:xfrm>
          <a:prstGeom prst="roundRect">
            <a:avLst>
              <a:gd fmla="val 9876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6215062" y="2171700"/>
            <a:ext cx="5405437" cy="1543050"/>
          </a:xfrm>
          <a:prstGeom prst="roundRect">
            <a:avLst>
              <a:gd fmla="val 9876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571500" y="3952875"/>
            <a:ext cx="5405437" cy="1543050"/>
          </a:xfrm>
          <a:prstGeom prst="roundRect">
            <a:avLst>
              <a:gd fmla="val 9876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215062" y="3952875"/>
            <a:ext cx="5405437" cy="1543050"/>
          </a:xfrm>
          <a:prstGeom prst="roundRect">
            <a:avLst>
              <a:gd fmla="val 9876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71500" y="3705225"/>
            <a:ext cx="54054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571500" y="2171700"/>
            <a:ext cx="5405437" cy="4762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571500" y="2171700"/>
            <a:ext cx="9525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5967412" y="2171700"/>
            <a:ext cx="9525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6215062" y="3705225"/>
            <a:ext cx="54054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6215062" y="2171700"/>
            <a:ext cx="5405437" cy="47625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6215062" y="2171700"/>
            <a:ext cx="9525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11610975" y="2171700"/>
            <a:ext cx="9525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571500" y="5486400"/>
            <a:ext cx="54054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571500" y="3952875"/>
            <a:ext cx="5405437" cy="47625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571500" y="3952875"/>
            <a:ext cx="9525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5967412" y="3952875"/>
            <a:ext cx="9525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6215062" y="5486400"/>
            <a:ext cx="5405437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4"/>
          <p:cNvSpPr/>
          <p:nvPr/>
        </p:nvSpPr>
        <p:spPr>
          <a:xfrm>
            <a:off x="6215062" y="3952875"/>
            <a:ext cx="5405437" cy="47625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6215062" y="3952875"/>
            <a:ext cx="9525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/>
          <p:nvPr/>
        </p:nvSpPr>
        <p:spPr>
          <a:xfrm>
            <a:off x="11610975" y="3952875"/>
            <a:ext cx="9525" cy="1543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66737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6775" y="25527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10337" y="2552700"/>
            <a:ext cx="18097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4333875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10337" y="4333875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 txBox="1"/>
          <p:nvPr/>
        </p:nvSpPr>
        <p:spPr>
          <a:xfrm>
            <a:off x="1104900" y="476250"/>
            <a:ext cx="110871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Visão Geral dos Tópicos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866775" y="2505075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Ferramentas de IA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866775" y="2962275"/>
            <a:ext cx="491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Principais plataformas generativas recomendadas para iniciantes começarem no mundo da inteligência artificial.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510337" y="2505075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NotebookLM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510337" y="2962275"/>
            <a:ext cx="491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Uso da IA como especialista online baseado exclusivamente nos seus próprios documentos e fontes.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866775" y="4286250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Supervisão Humana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866775" y="4743450"/>
            <a:ext cx="491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importância do controle crítico para evitar erros, alucinações e entregas superficiais.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6510337" y="4286250"/>
            <a:ext cx="515564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Primeiro Passo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6510337" y="4743450"/>
            <a:ext cx="49101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Estratégia prática para aprender IA aplicando comandos simples na automação do dia a dia.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/>
          <p:nvPr/>
        </p:nvSpPr>
        <p:spPr>
          <a:xfrm>
            <a:off x="571500" y="476250"/>
            <a:ext cx="11049000" cy="5905500"/>
          </a:xfrm>
          <a:prstGeom prst="roundRect">
            <a:avLst>
              <a:gd fmla="val 3870" name="adj"/>
            </a:avLst>
          </a:prstGeom>
          <a:solidFill>
            <a:srgbClr val="350C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571500" y="63722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571500" y="4762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571500" y="476250"/>
            <a:ext cx="76200" cy="59055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1610975" y="476250"/>
            <a:ext cx="9525" cy="590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1123950" y="5429250"/>
            <a:ext cx="100107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1123950" y="962025"/>
            <a:ext cx="2714625" cy="333375"/>
          </a:xfrm>
          <a:prstGeom prst="roundRect">
            <a:avLst>
              <a:gd fmla="val 50000" name="adj"/>
            </a:avLst>
          </a:prstGeom>
          <a:solidFill>
            <a:srgbClr val="5A175E"/>
          </a:solidFill>
          <a:ln cap="flat" cmpd="sng" w="9525">
            <a:solidFill>
              <a:srgbClr val="7F22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1123950" y="5429250"/>
            <a:ext cx="100107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43" name="Google Shape;14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1350" y="562927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925" y="1062037"/>
            <a:ext cx="1428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5"/>
          <p:cNvSpPr txBox="1"/>
          <p:nvPr/>
        </p:nvSpPr>
        <p:spPr>
          <a:xfrm>
            <a:off x="1514475" y="1038225"/>
            <a:ext cx="22479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FLASHCARD 07 — PERGUNTA</a:t>
            </a:r>
            <a:endParaRPr/>
          </a:p>
        </p:txBody>
      </p:sp>
      <p:sp>
        <p:nvSpPr>
          <p:cNvPr id="146" name="Google Shape;146;p15"/>
          <p:cNvSpPr txBox="1"/>
          <p:nvPr/>
        </p:nvSpPr>
        <p:spPr>
          <a:xfrm>
            <a:off x="1123950" y="1485900"/>
            <a:ext cx="10106025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Cite três ferramentas de IA generativa populares e acessíveis para iniciantes.</a:t>
            </a:r>
            <a:endParaRPr/>
          </a:p>
        </p:txBody>
      </p:sp>
      <p:sp>
        <p:nvSpPr>
          <p:cNvPr id="147" name="Google Shape;147;p15"/>
          <p:cNvSpPr txBox="1"/>
          <p:nvPr/>
        </p:nvSpPr>
        <p:spPr>
          <a:xfrm>
            <a:off x="1123950" y="5667375"/>
            <a:ext cx="320278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Tópico: Ferramentas Fundamentais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/>
          <p:nvPr/>
        </p:nvSpPr>
        <p:spPr>
          <a:xfrm>
            <a:off x="571500" y="2481262"/>
            <a:ext cx="3524250" cy="2705100"/>
          </a:xfrm>
          <a:prstGeom prst="roundRect">
            <a:avLst>
              <a:gd fmla="val 7042" name="adj"/>
            </a:avLst>
          </a:prstGeom>
          <a:solidFill>
            <a:srgbClr val="293445"/>
          </a:solidFill>
          <a:ln cap="flat" cmpd="sng" w="9525">
            <a:solidFill>
              <a:srgbClr val="353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4333875" y="2481262"/>
            <a:ext cx="3524250" cy="2705100"/>
          </a:xfrm>
          <a:prstGeom prst="roundRect">
            <a:avLst>
              <a:gd fmla="val 7042" name="adj"/>
            </a:avLst>
          </a:prstGeom>
          <a:solidFill>
            <a:srgbClr val="293445"/>
          </a:solidFill>
          <a:ln cap="flat" cmpd="sng" w="9525">
            <a:solidFill>
              <a:srgbClr val="353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8096250" y="2481262"/>
            <a:ext cx="3524250" cy="2705100"/>
          </a:xfrm>
          <a:prstGeom prst="roundRect">
            <a:avLst>
              <a:gd fmla="val 7042" name="adj"/>
            </a:avLst>
          </a:prstGeom>
          <a:solidFill>
            <a:srgbClr val="293445"/>
          </a:solidFill>
          <a:ln cap="flat" cmpd="sng" w="9525">
            <a:solidFill>
              <a:srgbClr val="353E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6" name="Google Shape;15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66737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52625" y="282416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0" y="282416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77375" y="2824162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62175" y="303371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86925" y="303371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 txBox="1"/>
          <p:nvPr/>
        </p:nvSpPr>
        <p:spPr>
          <a:xfrm>
            <a:off x="971550" y="476250"/>
            <a:ext cx="11220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Resposta — Flashcard 07</a:t>
            </a:r>
            <a:endParaRPr/>
          </a:p>
        </p:txBody>
      </p:sp>
      <p:sp>
        <p:nvSpPr>
          <p:cNvPr id="163" name="Google Shape;163;p16"/>
          <p:cNvSpPr txBox="1"/>
          <p:nvPr/>
        </p:nvSpPr>
        <p:spPr>
          <a:xfrm>
            <a:off x="1633537" y="3776662"/>
            <a:ext cx="14001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ChatGPT</a:t>
            </a:r>
            <a:endParaRPr/>
          </a:p>
        </p:txBody>
      </p:sp>
      <p:sp>
        <p:nvSpPr>
          <p:cNvPr id="164" name="Google Shape;164;p16"/>
          <p:cNvSpPr txBox="1"/>
          <p:nvPr/>
        </p:nvSpPr>
        <p:spPr>
          <a:xfrm>
            <a:off x="440531" y="4300537"/>
            <a:ext cx="378618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Ideal para textos, ideias, código e conversação geral com respostas rápidas e intuitivas.</a:t>
            </a:r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4945856" y="3776662"/>
            <a:ext cx="230028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Gemini</a:t>
            </a:r>
            <a:endParaRPr/>
          </a:p>
        </p:txBody>
      </p:sp>
      <p:sp>
        <p:nvSpPr>
          <p:cNvPr id="166" name="Google Shape;166;p16"/>
          <p:cNvSpPr txBox="1"/>
          <p:nvPr/>
        </p:nvSpPr>
        <p:spPr>
          <a:xfrm>
            <a:off x="4202906" y="4300537"/>
            <a:ext cx="378618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Integrado ao ecossistema Google, ótimo para pesquisas em tempo real e análise multimodal.</a:t>
            </a:r>
            <a:endParaRPr/>
          </a:p>
        </p:txBody>
      </p:sp>
      <p:sp>
        <p:nvSpPr>
          <p:cNvPr id="167" name="Google Shape;167;p16"/>
          <p:cNvSpPr txBox="1"/>
          <p:nvPr/>
        </p:nvSpPr>
        <p:spPr>
          <a:xfrm>
            <a:off x="9095779" y="3776662"/>
            <a:ext cx="152519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Claude.AI</a:t>
            </a:r>
            <a:endParaRPr/>
          </a:p>
        </p:txBody>
      </p:sp>
      <p:sp>
        <p:nvSpPr>
          <p:cNvPr id="168" name="Google Shape;168;p16"/>
          <p:cNvSpPr txBox="1"/>
          <p:nvPr/>
        </p:nvSpPr>
        <p:spPr>
          <a:xfrm>
            <a:off x="7965281" y="4300537"/>
            <a:ext cx="378618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Excelente raciocínio lógico, escrita natural, análise profunda e interpretação de textos longos.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/>
          <p:nvPr/>
        </p:nvSpPr>
        <p:spPr>
          <a:xfrm>
            <a:off x="571500" y="476250"/>
            <a:ext cx="11049000" cy="5905500"/>
          </a:xfrm>
          <a:prstGeom prst="roundRect">
            <a:avLst>
              <a:gd fmla="val 3870" name="adj"/>
            </a:avLst>
          </a:prstGeom>
          <a:solidFill>
            <a:srgbClr val="1B30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571500" y="63722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571500" y="4762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571500" y="476250"/>
            <a:ext cx="76200" cy="5905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11610975" y="476250"/>
            <a:ext cx="9525" cy="590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1123950" y="5429250"/>
            <a:ext cx="100107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1123950" y="962025"/>
            <a:ext cx="2724150" cy="333375"/>
          </a:xfrm>
          <a:prstGeom prst="roundRect">
            <a:avLst>
              <a:gd fmla="val 50000" name="adj"/>
            </a:avLst>
          </a:prstGeom>
          <a:solidFill>
            <a:srgbClr val="453466"/>
          </a:solidFill>
          <a:ln cap="flat" cmpd="sng" w="9525">
            <a:solidFill>
              <a:srgbClr val="7038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1123950" y="5429250"/>
            <a:ext cx="100107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2" name="Google Shape;18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29925" y="5629275"/>
            <a:ext cx="3048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925" y="1062037"/>
            <a:ext cx="1428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7"/>
          <p:cNvSpPr txBox="1"/>
          <p:nvPr/>
        </p:nvSpPr>
        <p:spPr>
          <a:xfrm>
            <a:off x="1514475" y="1038225"/>
            <a:ext cx="2257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FLASHCARD 08 — PERGUNTA</a:t>
            </a:r>
            <a:endParaRPr/>
          </a:p>
        </p:txBody>
      </p:sp>
      <p:sp>
        <p:nvSpPr>
          <p:cNvPr id="185" name="Google Shape;185;p17"/>
          <p:cNvSpPr txBox="1"/>
          <p:nvPr/>
        </p:nvSpPr>
        <p:spPr>
          <a:xfrm>
            <a:off x="1123950" y="1485900"/>
            <a:ext cx="10106025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 que significa usar a IA como um "especialista online" (NotebookLM)?</a:t>
            </a:r>
            <a:endParaRPr/>
          </a:p>
        </p:txBody>
      </p:sp>
      <p:sp>
        <p:nvSpPr>
          <p:cNvPr id="186" name="Google Shape;186;p17"/>
          <p:cNvSpPr txBox="1"/>
          <p:nvPr/>
        </p:nvSpPr>
        <p:spPr>
          <a:xfrm>
            <a:off x="1123950" y="5667375"/>
            <a:ext cx="3000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Tópico: Contexto &amp; Documentos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/>
          <p:nvPr/>
        </p:nvSpPr>
        <p:spPr>
          <a:xfrm>
            <a:off x="571500" y="476250"/>
            <a:ext cx="11049000" cy="5905500"/>
          </a:xfrm>
          <a:prstGeom prst="roundRect">
            <a:avLst>
              <a:gd fmla="val 3870" name="adj"/>
            </a:avLst>
          </a:prstGeom>
          <a:solidFill>
            <a:srgbClr val="043D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571500" y="63722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571500" y="4762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571500" y="476250"/>
            <a:ext cx="76200" cy="5905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11610975" y="476250"/>
            <a:ext cx="9525" cy="590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1123950" y="5429250"/>
            <a:ext cx="100107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1123950" y="962025"/>
            <a:ext cx="2695575" cy="333375"/>
          </a:xfrm>
          <a:prstGeom prst="roundRect">
            <a:avLst>
              <a:gd fmla="val 50000" name="adj"/>
            </a:avLst>
          </a:prstGeom>
          <a:solidFill>
            <a:srgbClr val="0A5838"/>
          </a:solidFill>
          <a:ln cap="flat" cmpd="sng" w="9525">
            <a:solidFill>
              <a:srgbClr val="1073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1123950" y="5429250"/>
            <a:ext cx="100107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0" name="Google Shape;20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34700" y="5629275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925" y="1062037"/>
            <a:ext cx="1428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8"/>
          <p:cNvSpPr txBox="1"/>
          <p:nvPr/>
        </p:nvSpPr>
        <p:spPr>
          <a:xfrm>
            <a:off x="1514475" y="1038225"/>
            <a:ext cx="2228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6EFAC"/>
                </a:solidFill>
                <a:latin typeface="Inter"/>
                <a:ea typeface="Inter"/>
                <a:cs typeface="Inter"/>
                <a:sym typeface="Inter"/>
              </a:rPr>
              <a:t>FLASHCARD 08 — RESPOSTA</a:t>
            </a:r>
            <a:endParaRPr/>
          </a:p>
        </p:txBody>
      </p:sp>
      <p:sp>
        <p:nvSpPr>
          <p:cNvPr id="203" name="Google Shape;203;p18"/>
          <p:cNvSpPr txBox="1"/>
          <p:nvPr/>
        </p:nvSpPr>
        <p:spPr>
          <a:xfrm>
            <a:off x="1123950" y="1485900"/>
            <a:ext cx="10106025" cy="1519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Carregar documentos específicos para que a IA responda perguntas baseando-se apenas naquele material fornecido.</a:t>
            </a:r>
            <a:endParaRPr/>
          </a:p>
        </p:txBody>
      </p:sp>
      <p:sp>
        <p:nvSpPr>
          <p:cNvPr id="204" name="Google Shape;204;p18"/>
          <p:cNvSpPr txBox="1"/>
          <p:nvPr/>
        </p:nvSpPr>
        <p:spPr>
          <a:xfrm>
            <a:off x="1123950" y="5667375"/>
            <a:ext cx="51792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Garante respostas precisas e sem contaminação externa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/>
          <p:nvPr/>
        </p:nvSpPr>
        <p:spPr>
          <a:xfrm>
            <a:off x="571500" y="476250"/>
            <a:ext cx="11049000" cy="5905500"/>
          </a:xfrm>
          <a:prstGeom prst="roundRect">
            <a:avLst>
              <a:gd fmla="val 3870" name="adj"/>
            </a:avLst>
          </a:prstGeom>
          <a:solidFill>
            <a:srgbClr val="6A0C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571500" y="63722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71500" y="4762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571500" y="476250"/>
            <a:ext cx="76200" cy="59055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11610975" y="476250"/>
            <a:ext cx="9525" cy="590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1123950" y="5429250"/>
            <a:ext cx="100107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1123950" y="962025"/>
            <a:ext cx="2724150" cy="333375"/>
          </a:xfrm>
          <a:prstGeom prst="roundRect">
            <a:avLst>
              <a:gd fmla="val 50000" name="adj"/>
            </a:avLst>
          </a:prstGeom>
          <a:solidFill>
            <a:srgbClr val="85172E"/>
          </a:solidFill>
          <a:ln cap="flat" cmpd="sng" w="9525">
            <a:solidFill>
              <a:srgbClr val="9F22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1123950" y="5429250"/>
            <a:ext cx="100107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8" name="Google Shape;21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8025" y="562927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925" y="1062037"/>
            <a:ext cx="1428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9"/>
          <p:cNvSpPr txBox="1"/>
          <p:nvPr/>
        </p:nvSpPr>
        <p:spPr>
          <a:xfrm>
            <a:off x="1514475" y="1038225"/>
            <a:ext cx="22574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FLASHCARD 09 — PERGUNTA</a:t>
            </a:r>
            <a:endParaRPr/>
          </a:p>
        </p:txBody>
      </p:sp>
      <p:sp>
        <p:nvSpPr>
          <p:cNvPr id="221" name="Google Shape;221;p19"/>
          <p:cNvSpPr txBox="1"/>
          <p:nvPr/>
        </p:nvSpPr>
        <p:spPr>
          <a:xfrm>
            <a:off x="1123950" y="1485900"/>
            <a:ext cx="10106025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Por que a supervisão humana é essencial ao utilizar resultados da IA?</a:t>
            </a:r>
            <a:endParaRPr/>
          </a:p>
        </p:txBody>
      </p:sp>
      <p:sp>
        <p:nvSpPr>
          <p:cNvPr id="222" name="Google Shape;222;p19"/>
          <p:cNvSpPr txBox="1"/>
          <p:nvPr/>
        </p:nvSpPr>
        <p:spPr>
          <a:xfrm>
            <a:off x="1123950" y="5667375"/>
            <a:ext cx="277415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Tópico: Controle de Qualidade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0"/>
          <p:cNvSpPr/>
          <p:nvPr/>
        </p:nvSpPr>
        <p:spPr>
          <a:xfrm>
            <a:off x="571500" y="476250"/>
            <a:ext cx="11049000" cy="5905500"/>
          </a:xfrm>
          <a:prstGeom prst="roundRect">
            <a:avLst>
              <a:gd fmla="val 3870" name="adj"/>
            </a:avLst>
          </a:prstGeom>
          <a:solidFill>
            <a:srgbClr val="5F280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571500" y="63722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571500" y="4762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571500" y="476250"/>
            <a:ext cx="76200" cy="59055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11610975" y="476250"/>
            <a:ext cx="9525" cy="590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1123950" y="5429250"/>
            <a:ext cx="100107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1123950" y="962025"/>
            <a:ext cx="2695575" cy="333375"/>
          </a:xfrm>
          <a:prstGeom prst="roundRect">
            <a:avLst>
              <a:gd fmla="val 50000" name="adj"/>
            </a:avLst>
          </a:prstGeom>
          <a:solidFill>
            <a:srgbClr val="53471A"/>
          </a:solidFill>
          <a:ln cap="flat" cmpd="sng" w="9525">
            <a:solidFill>
              <a:srgbClr val="476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1123950" y="5429250"/>
            <a:ext cx="100107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6" name="Google Shape;23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1350" y="562927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925" y="1062037"/>
            <a:ext cx="1428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/>
        </p:nvSpPr>
        <p:spPr>
          <a:xfrm>
            <a:off x="1514475" y="1038225"/>
            <a:ext cx="2228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6EFAC"/>
                </a:solidFill>
                <a:latin typeface="Inter"/>
                <a:ea typeface="Inter"/>
                <a:cs typeface="Inter"/>
                <a:sym typeface="Inter"/>
              </a:rPr>
              <a:t>FLASHCARD 09 — RESPOSTA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1123950" y="1485900"/>
            <a:ext cx="10106025" cy="1519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Para evitar a dependência excessiva e garantir que a entrega não seja superficial ou contenha informações incorretas.</a:t>
            </a:r>
            <a:endParaRPr/>
          </a:p>
        </p:txBody>
      </p:sp>
      <p:sp>
        <p:nvSpPr>
          <p:cNvPr id="240" name="Google Shape;240;p20"/>
          <p:cNvSpPr txBox="1"/>
          <p:nvPr/>
        </p:nvSpPr>
        <p:spPr>
          <a:xfrm>
            <a:off x="1123950" y="5667375"/>
            <a:ext cx="4548187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 ser humano é o responsável final pela validação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/>
          <p:nvPr/>
        </p:nvSpPr>
        <p:spPr>
          <a:xfrm>
            <a:off x="571500" y="476250"/>
            <a:ext cx="11049000" cy="5905500"/>
          </a:xfrm>
          <a:prstGeom prst="roundRect">
            <a:avLst>
              <a:gd fmla="val 3870" name="adj"/>
            </a:avLst>
          </a:prstGeom>
          <a:solidFill>
            <a:srgbClr val="350C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1"/>
          <p:cNvSpPr/>
          <p:nvPr/>
        </p:nvSpPr>
        <p:spPr>
          <a:xfrm>
            <a:off x="571500" y="63722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1"/>
          <p:cNvSpPr/>
          <p:nvPr/>
        </p:nvSpPr>
        <p:spPr>
          <a:xfrm>
            <a:off x="571500" y="4762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571500" y="476250"/>
            <a:ext cx="76200" cy="59055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11610975" y="476250"/>
            <a:ext cx="9525" cy="590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1123950" y="5429250"/>
            <a:ext cx="100107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1123950" y="962025"/>
            <a:ext cx="2695575" cy="333375"/>
          </a:xfrm>
          <a:prstGeom prst="roundRect">
            <a:avLst>
              <a:gd fmla="val 50000" name="adj"/>
            </a:avLst>
          </a:prstGeom>
          <a:solidFill>
            <a:srgbClr val="5A175E"/>
          </a:solidFill>
          <a:ln cap="flat" cmpd="sng" w="9525">
            <a:solidFill>
              <a:srgbClr val="7F22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1123950" y="5429250"/>
            <a:ext cx="100107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4" name="Google Shape;25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34700" y="5629275"/>
            <a:ext cx="2000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925" y="1062037"/>
            <a:ext cx="1428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/>
        </p:nvSpPr>
        <p:spPr>
          <a:xfrm>
            <a:off x="1514475" y="1038225"/>
            <a:ext cx="22288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CA5A5"/>
                </a:solidFill>
                <a:latin typeface="Inter"/>
                <a:ea typeface="Inter"/>
                <a:cs typeface="Inter"/>
                <a:sym typeface="Inter"/>
              </a:rPr>
              <a:t>FLASHCARD 10 — PERGUNTA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1123950" y="1485900"/>
            <a:ext cx="10106025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Qual o primeiro passo prático sugerido para aprender IA do zero?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1123950" y="5667375"/>
            <a:ext cx="260746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Tópico: Aprendizado Prático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/>
          <p:nvPr/>
        </p:nvSpPr>
        <p:spPr>
          <a:xfrm>
            <a:off x="571500" y="476250"/>
            <a:ext cx="11049000" cy="5905500"/>
          </a:xfrm>
          <a:prstGeom prst="roundRect">
            <a:avLst>
              <a:gd fmla="val 3870" name="adj"/>
            </a:avLst>
          </a:prstGeom>
          <a:solidFill>
            <a:srgbClr val="1B30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571500" y="6372225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571500" y="476250"/>
            <a:ext cx="11049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571500" y="476250"/>
            <a:ext cx="76200" cy="5905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11610975" y="476250"/>
            <a:ext cx="9525" cy="5905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1123950" y="5429250"/>
            <a:ext cx="100107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1123950" y="962025"/>
            <a:ext cx="2667000" cy="333375"/>
          </a:xfrm>
          <a:prstGeom prst="roundRect">
            <a:avLst>
              <a:gd fmla="val 50000" name="adj"/>
            </a:avLst>
          </a:prstGeom>
          <a:solidFill>
            <a:srgbClr val="1C4E6C"/>
          </a:solidFill>
          <a:ln cap="flat" cmpd="sng" w="9525">
            <a:solidFill>
              <a:srgbClr val="1E6C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1123950" y="5429250"/>
            <a:ext cx="100107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2" name="Google Shape;27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01350" y="5629275"/>
            <a:ext cx="33337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4925" y="1062037"/>
            <a:ext cx="142875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2"/>
          <p:cNvSpPr txBox="1"/>
          <p:nvPr/>
        </p:nvSpPr>
        <p:spPr>
          <a:xfrm>
            <a:off x="1514475" y="1038225"/>
            <a:ext cx="2200275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86EFAC"/>
                </a:solidFill>
                <a:latin typeface="Inter"/>
                <a:ea typeface="Inter"/>
                <a:cs typeface="Inter"/>
                <a:sym typeface="Inter"/>
              </a:rPr>
              <a:t>FLASHCARD 10 — RESPOSTA</a:t>
            </a:r>
            <a:endParaRPr/>
          </a:p>
        </p:txBody>
      </p:sp>
      <p:sp>
        <p:nvSpPr>
          <p:cNvPr id="275" name="Google Shape;275;p22"/>
          <p:cNvSpPr txBox="1"/>
          <p:nvPr/>
        </p:nvSpPr>
        <p:spPr>
          <a:xfrm>
            <a:off x="1123950" y="1485900"/>
            <a:ext cx="10106025" cy="1013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Testar interfaces gratuitas e praticar comandos simples para automatizar tarefas repetitivas do dia a dia.</a:t>
            </a:r>
            <a:endParaRPr/>
          </a:p>
        </p:txBody>
      </p:sp>
      <p:sp>
        <p:nvSpPr>
          <p:cNvPr id="276" name="Google Shape;276;p22"/>
          <p:cNvSpPr txBox="1"/>
          <p:nvPr/>
        </p:nvSpPr>
        <p:spPr>
          <a:xfrm>
            <a:off x="1123950" y="5667375"/>
            <a:ext cx="4631531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Consistência e prática geram domínio do uso de IA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3"/>
          <p:cNvSpPr/>
          <p:nvPr/>
        </p:nvSpPr>
        <p:spPr>
          <a:xfrm>
            <a:off x="571500" y="3562350"/>
            <a:ext cx="7576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/>
          <p:nvPr/>
        </p:nvSpPr>
        <p:spPr>
          <a:xfrm>
            <a:off x="1329183" y="3562350"/>
            <a:ext cx="39844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5313610" y="3562350"/>
            <a:ext cx="63068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3"/>
          <p:cNvSpPr/>
          <p:nvPr/>
        </p:nvSpPr>
        <p:spPr>
          <a:xfrm>
            <a:off x="571500" y="4143375"/>
            <a:ext cx="7576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3"/>
          <p:cNvSpPr/>
          <p:nvPr/>
        </p:nvSpPr>
        <p:spPr>
          <a:xfrm>
            <a:off x="1329183" y="4143375"/>
            <a:ext cx="39844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3"/>
          <p:cNvSpPr/>
          <p:nvPr/>
        </p:nvSpPr>
        <p:spPr>
          <a:xfrm>
            <a:off x="5313610" y="4143375"/>
            <a:ext cx="63068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3"/>
          <p:cNvSpPr/>
          <p:nvPr/>
        </p:nvSpPr>
        <p:spPr>
          <a:xfrm>
            <a:off x="571500" y="4724400"/>
            <a:ext cx="757683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/>
          <p:nvPr/>
        </p:nvSpPr>
        <p:spPr>
          <a:xfrm>
            <a:off x="1329183" y="4724400"/>
            <a:ext cx="3984426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5313610" y="4724400"/>
            <a:ext cx="630688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1" name="Google Shape;29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66737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3"/>
          <p:cNvSpPr/>
          <p:nvPr/>
        </p:nvSpPr>
        <p:spPr>
          <a:xfrm>
            <a:off x="571500" y="2357437"/>
            <a:ext cx="11049000" cy="2952750"/>
          </a:xfrm>
          <a:prstGeom prst="roundRect">
            <a:avLst>
              <a:gd fmla="val 0" name="adj"/>
            </a:avLst>
          </a:prstGeom>
          <a:solidFill>
            <a:srgbClr val="334155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3" name="Google Shape;293;p23"/>
          <p:cNvGraphicFramePr/>
          <p:nvPr/>
        </p:nvGraphicFramePr>
        <p:xfrm>
          <a:off x="571500" y="23574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{AB9A6177-F007-4BC9-A717-A9DB08C38643}</a:tableStyleId>
              </a:tblPr>
              <a:tblGrid>
                <a:gridCol w="757675"/>
                <a:gridCol w="3984425"/>
                <a:gridCol w="6306900"/>
              </a:tblGrid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18C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Nº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18C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Pergunta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818CF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Conceito Chave / Resposta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07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Ferramentas populares para iniciantes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ChatGPT, Google Gemini e Claude.AI.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Especialista online (NotebookLM)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Basear respostas exclusivamente nos documentos carregados.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Importância da supervisão humana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Evitar dependência, erros e entregas superficiais.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Primeiro passo para aprender 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2E8F0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Testar ferramentas gratuitas e automatizar tarefas diárias.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294" name="Google Shape;294;p23"/>
          <p:cNvSpPr txBox="1"/>
          <p:nvPr/>
        </p:nvSpPr>
        <p:spPr>
          <a:xfrm>
            <a:off x="1057275" y="476250"/>
            <a:ext cx="111347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Síntese dos Flashcards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1200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4"/>
          <p:cNvSpPr txBox="1"/>
          <p:nvPr/>
        </p:nvSpPr>
        <p:spPr>
          <a:xfrm>
            <a:off x="-404812" y="2981325"/>
            <a:ext cx="1300162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Bons Estudos!</a:t>
            </a:r>
            <a:endParaRPr/>
          </a:p>
        </p:txBody>
      </p:sp>
      <p:sp>
        <p:nvSpPr>
          <p:cNvPr id="302" name="Google Shape;302;p24"/>
          <p:cNvSpPr txBox="1"/>
          <p:nvPr/>
        </p:nvSpPr>
        <p:spPr>
          <a:xfrm>
            <a:off x="1928812" y="3981450"/>
            <a:ext cx="8334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Aplique estes conceitos diariamente para obter o máximo rendimento na sua jornada de aprendizado em Inteligência Artificial.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